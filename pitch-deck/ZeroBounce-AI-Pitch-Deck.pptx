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3716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A0A0A"/>
                </a:solidFill>
              </a:rPr>
              <a:t>ZB ZeroBounce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0A0A0A"/>
                </a:solidFill>
              </a:rPr>
              <a:t>Email Verification That</a:t>
            </a:r>
          </a:p>
          <a:p>
            <a:r>
              <a:t>Actually Thinks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B5563"/>
                </a:solidFill>
              </a:rPr>
              <a:t>AI-Powered Email Verification with 98%+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50292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0A0A0A"/>
                </a:solidFill>
              </a:rPr>
              <a:t>Temitayo Boboye - Founder</a:t>
            </a:r>
          </a:p>
          <a:p>
            <a:pPr algn="ctr"/>
            <a:r>
              <a:rPr sz="1800">
                <a:solidFill>
                  <a:srgbClr val="0A0A0A"/>
                </a:solidFill>
              </a:rPr>
              <a:t>hello@zerobounceai.com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A0A0A"/>
                </a:solidFill>
              </a:rPr>
              <a:t>Email Verification Is Broken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74151"/>
                </a:solidFill>
              </a:rPr>
              <a:t>❌ Traditional Tools: 92-95% Accuracy</a:t>
            </a:r>
          </a:p>
          <a:p/>
          <a:p>
            <a:r>
              <a:rPr sz="1400">
                <a:solidFill>
                  <a:srgbClr val="374151"/>
                </a:solidFill>
              </a:rPr>
              <a:t>• 5-8% of emails still bounce</a:t>
            </a:r>
          </a:p>
          <a:p>
            <a:r>
              <a:rPr sz="1400">
                <a:solidFill>
                  <a:srgbClr val="374151"/>
                </a:solidFill>
              </a:rPr>
              <a:t>• Damaged sender reputation</a:t>
            </a:r>
          </a:p>
          <a:p>
            <a:r>
              <a:rPr sz="1400">
                <a:solidFill>
                  <a:srgbClr val="374151"/>
                </a:solidFill>
              </a:rPr>
              <a:t>• Lost revenue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74151"/>
                </a:solidFill>
              </a:rPr>
              <a:t>❌ Catch-All Domains = Guesswork</a:t>
            </a:r>
          </a:p>
          <a:p/>
          <a:p>
            <a:r>
              <a:rPr sz="1400">
                <a:solidFill>
                  <a:srgbClr val="374151"/>
                </a:solidFill>
              </a:rPr>
              <a:t>• Binary yes/no answers</a:t>
            </a:r>
          </a:p>
          <a:p>
            <a:r>
              <a:rPr sz="1400">
                <a:solidFill>
                  <a:srgbClr val="374151"/>
                </a:solidFill>
              </a:rPr>
              <a:t>• No confidence scoring</a:t>
            </a:r>
          </a:p>
          <a:p>
            <a:r>
              <a:rPr sz="1400">
                <a:solidFill>
                  <a:srgbClr val="374151"/>
                </a:solidFill>
              </a:rPr>
              <a:t>• Marketers waste 30% of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74151"/>
                </a:solidFill>
              </a:rPr>
              <a:t>❌ No Pattern Recognition</a:t>
            </a:r>
          </a:p>
          <a:p/>
          <a:p>
            <a:r>
              <a:rPr sz="1400">
                <a:solidFill>
                  <a:srgbClr val="374151"/>
                </a:solidFill>
              </a:rPr>
              <a:t>• Can't find correct email formats</a:t>
            </a:r>
          </a:p>
          <a:p>
            <a:r>
              <a:rPr sz="1400">
                <a:solidFill>
                  <a:srgbClr val="374151"/>
                </a:solidFill>
              </a:rPr>
              <a:t>• Manual research required</a:t>
            </a:r>
          </a:p>
          <a:p>
            <a:r>
              <a:rPr sz="1400">
                <a:solidFill>
                  <a:srgbClr val="374151"/>
                </a:solidFill>
              </a:rPr>
              <a:t>• Slow, inefficient processes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572000"/>
            <a:ext cx="6400800" cy="91440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💰 $2.5B wasted annually on bounced emails and poor targeting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A0A0A"/>
                </a:solidFill>
              </a:rPr>
              <a:t>AI-Powered Verification with 98%+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840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A0A0A"/>
                </a:solidFill>
              </a:rPr>
              <a:t>✅ AI-Powered Verification</a:t>
            </a:r>
          </a:p>
          <a:p/>
          <a:p>
            <a:r>
              <a:rPr sz="1300">
                <a:solidFill>
                  <a:srgbClr val="374151"/>
                </a:solidFill>
              </a:rPr>
              <a:t>• 98%+ accuracy (vs 92-95%)</a:t>
            </a:r>
          </a:p>
          <a:p>
            <a:r>
              <a:rPr sz="1300">
                <a:solidFill>
                  <a:srgbClr val="374151"/>
                </a:solidFill>
              </a:rPr>
              <a:t>• Reduces bounces by 60%</a:t>
            </a:r>
          </a:p>
          <a:p>
            <a:r>
              <a:rPr sz="1300">
                <a:solidFill>
                  <a:srgbClr val="374151"/>
                </a:solidFill>
              </a:rPr>
              <a:t>• Machine learning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645920"/>
            <a:ext cx="3840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A0A0A"/>
                </a:solidFill>
              </a:rPr>
              <a:t>✅ Catch-All Confidence Scoring</a:t>
            </a:r>
          </a:p>
          <a:p/>
          <a:p>
            <a:r>
              <a:rPr sz="1300">
                <a:solidFill>
                  <a:srgbClr val="374151"/>
                </a:solidFill>
              </a:rPr>
              <a:t>• 0-100 confidence score</a:t>
            </a:r>
          </a:p>
          <a:p>
            <a:r>
              <a:rPr sz="1300">
                <a:solidFill>
                  <a:srgbClr val="374151"/>
                </a:solidFill>
              </a:rPr>
              <a:t>• Not just 'maybe' - know exactly</a:t>
            </a:r>
          </a:p>
          <a:p>
            <a:r>
              <a:rPr sz="1300">
                <a:solidFill>
                  <a:srgbClr val="374151"/>
                </a:solidFill>
              </a:rPr>
              <a:t>• Make data-driven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3840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A0A0A"/>
                </a:solidFill>
              </a:rPr>
              <a:t>✅ Email Pattern Recognition</a:t>
            </a:r>
          </a:p>
          <a:p/>
          <a:p>
            <a:r>
              <a:rPr sz="1300">
                <a:solidFill>
                  <a:srgbClr val="374151"/>
                </a:solidFill>
              </a:rPr>
              <a:t>• AI suggests correct formats</a:t>
            </a:r>
          </a:p>
          <a:p>
            <a:r>
              <a:rPr sz="1300">
                <a:solidFill>
                  <a:srgbClr val="374151"/>
                </a:solidFill>
              </a:rPr>
              <a:t>• Finds emails competitors miss</a:t>
            </a:r>
          </a:p>
          <a:p>
            <a:r>
              <a:rPr sz="1300">
                <a:solidFill>
                  <a:srgbClr val="374151"/>
                </a:solidFill>
              </a:rPr>
              <a:t>• Saves hours of manual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840480"/>
            <a:ext cx="3840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A0A0A"/>
                </a:solidFill>
              </a:rPr>
              <a:t>✅ Domain Reputation Intelligence</a:t>
            </a:r>
          </a:p>
          <a:p/>
          <a:p>
            <a:r>
              <a:rPr sz="1300">
                <a:solidFill>
                  <a:srgbClr val="374151"/>
                </a:solidFill>
              </a:rPr>
              <a:t>• Protects your sender score</a:t>
            </a:r>
          </a:p>
          <a:p>
            <a:r>
              <a:rPr sz="1300">
                <a:solidFill>
                  <a:srgbClr val="374151"/>
                </a:solidFill>
              </a:rPr>
              <a:t>• Identifies risky domains</a:t>
            </a:r>
          </a:p>
          <a:p>
            <a:r>
              <a:rPr sz="1300">
                <a:solidFill>
                  <a:srgbClr val="374151"/>
                </a:solidFill>
              </a:rPr>
              <a:t>• Prevents blacklisting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A0A0A"/>
                </a:solidFill>
              </a:rPr>
              <a:t>See It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/>
              <a:t>INPUT</a:t>
            </a:r>
          </a:p>
          <a:p/>
          <a:p>
            <a:r>
              <a:t>john@example.com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2860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>
                <a:solidFill>
                  <a:srgbClr val="7FD957"/>
                </a:solidFill>
              </a:rPr>
              <a:t>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A0A0A"/>
                </a:solidFill>
              </a:rPr>
              <a:t>OUTPUT</a:t>
            </a:r>
          </a:p>
          <a:p/>
          <a:p>
            <a:r>
              <a:rPr sz="1300">
                <a:solidFill>
                  <a:srgbClr val="0A0A0A"/>
                </a:solidFill>
              </a:rPr>
              <a:t>✅ Status: Valid (Safe)</a:t>
            </a:r>
          </a:p>
          <a:p>
            <a:r>
              <a:rPr sz="1300">
                <a:solidFill>
                  <a:srgbClr val="0A0A0A"/>
                </a:solidFill>
              </a:rPr>
              <a:t>Confidence: 98/100</a:t>
            </a:r>
          </a:p>
          <a:p>
            <a:r>
              <a:rPr sz="1300">
                <a:solidFill>
                  <a:srgbClr val="0A0A0A"/>
                </a:solidFill>
              </a:rPr>
              <a:t>✅ MX Records: Found</a:t>
            </a:r>
          </a:p>
          <a:p>
            <a:r>
              <a:rPr sz="1300">
                <a:solidFill>
                  <a:srgbClr val="0A0A0A"/>
                </a:solidFill>
              </a:rPr>
              <a:t>✅ SMTP: Responsive</a:t>
            </a:r>
          </a:p>
          <a:p>
            <a:r>
              <a:rPr sz="1300">
                <a:solidFill>
                  <a:srgbClr val="0A0A0A"/>
                </a:solidFill>
              </a:rPr>
              <a:t>⚠️ Catch-All: Yes (High Conf.)</a:t>
            </a:r>
          </a:p>
          <a:p>
            <a:r>
              <a:rPr sz="1300">
                <a:solidFill>
                  <a:srgbClr val="0A0A0A"/>
                </a:solidFill>
              </a:rPr>
              <a:t>🟢 Domain Rep: Excellent (95)</a:t>
            </a:r>
          </a:p>
          <a:p>
            <a:r>
              <a:rPr sz="1300">
                <a:solidFill>
                  <a:srgbClr val="0A0A0A"/>
                </a:solidFill>
              </a:rPr>
              <a:t>Suggested: john.doe@example.com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7FD957"/>
                </a:solidFill>
              </a:rPr>
              <a:t>&lt; 200ms</a:t>
            </a:r>
          </a:p>
          <a:p>
            <a:pPr algn="ctr"/>
            <a:r>
              <a:rPr sz="1400">
                <a:solidFill>
                  <a:srgbClr val="4B5563"/>
                </a:solidFill>
              </a:rPr>
              <a:t>Response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50292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7FD957"/>
                </a:solidFill>
              </a:rPr>
              <a:t>98.3%</a:t>
            </a:r>
          </a:p>
          <a:p>
            <a:pPr algn="ctr"/>
            <a:r>
              <a:rPr sz="1400">
                <a:solidFill>
                  <a:srgbClr val="4B5563"/>
                </a:solidFill>
              </a:rPr>
              <a:t>Accuracy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0292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7FD957"/>
                </a:solidFill>
              </a:rPr>
              <a:t>10 min</a:t>
            </a:r>
          </a:p>
          <a:p>
            <a:pPr algn="ctr"/>
            <a:r>
              <a:rPr sz="1400">
                <a:solidFill>
                  <a:srgbClr val="4B5563"/>
                </a:solidFill>
              </a:rPr>
              <a:t>Integration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A0A0A"/>
                </a:solidFill>
              </a:rPr>
              <a:t>Massive Market, Growing Fast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A0A0A"/>
                </a:solidFill>
              </a:rPr>
              <a:t>TAM</a:t>
            </a:r>
          </a:p>
          <a:p>
            <a:pPr algn="ctr"/>
            <a:r>
              <a:rPr sz="3600" b="1">
                <a:solidFill>
                  <a:srgbClr val="0A0A0A"/>
                </a:solidFill>
              </a:rPr>
              <a:t>$2.5B</a:t>
            </a:r>
          </a:p>
          <a:p>
            <a:pPr algn="ctr"/>
            <a:r>
              <a:rPr sz="1400">
                <a:solidFill>
                  <a:srgbClr val="0A0A0A"/>
                </a:solidFill>
              </a:rPr>
              <a:t>Email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A0A0A"/>
                </a:solidFill>
              </a:rPr>
              <a:t>SAM</a:t>
            </a:r>
          </a:p>
          <a:p>
            <a:pPr algn="ctr"/>
            <a:r>
              <a:rPr sz="3600" b="1">
                <a:solidFill>
                  <a:srgbClr val="0A0A0A"/>
                </a:solidFill>
              </a:rPr>
              <a:t>$850M</a:t>
            </a:r>
          </a:p>
          <a:p>
            <a:pPr algn="ctr"/>
            <a:r>
              <a:rPr sz="1400">
                <a:solidFill>
                  <a:srgbClr val="0A0A0A"/>
                </a:solidFill>
              </a:rPr>
              <a:t>AI-Powered Segment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A0A0A"/>
                </a:solidFill>
              </a:rPr>
              <a:t>SOM</a:t>
            </a:r>
          </a:p>
          <a:p>
            <a:pPr algn="ctr"/>
            <a:r>
              <a:rPr sz="3600" b="1">
                <a:solidFill>
                  <a:srgbClr val="0A0A0A"/>
                </a:solidFill>
              </a:rPr>
              <a:t>$85M</a:t>
            </a:r>
          </a:p>
          <a:p>
            <a:pPr algn="ctr"/>
            <a:r>
              <a:rPr sz="1400">
                <a:solidFill>
                  <a:srgbClr val="0A0A0A"/>
                </a:solidFill>
              </a:rPr>
              <a:t>3-Year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64592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74151"/>
                </a:solidFill>
              </a:rPr>
              <a:t>📈 Market Trends</a:t>
            </a:r>
          </a:p>
          <a:p/>
          <a:p>
            <a:r>
              <a:rPr sz="1400">
                <a:solidFill>
                  <a:srgbClr val="374151"/>
                </a:solidFill>
              </a:rPr>
              <a:t>• Email marketing: 20% YoY growth</a:t>
            </a:r>
          </a:p>
          <a:p>
            <a:r>
              <a:rPr sz="1400">
                <a:solidFill>
                  <a:srgbClr val="374151"/>
                </a:solidFill>
              </a:rPr>
              <a:t>• AI adoption: 35% CAGR</a:t>
            </a:r>
          </a:p>
          <a:p>
            <a:r>
              <a:rPr sz="1400">
                <a:solidFill>
                  <a:srgbClr val="374151"/>
                </a:solidFill>
              </a:rPr>
              <a:t>• GDPR/compliance: Increasing demand</a:t>
            </a:r>
          </a:p>
          <a:p>
            <a:r>
              <a:rPr sz="1400">
                <a:solidFill>
                  <a:srgbClr val="374151"/>
                </a:solidFill>
              </a:rPr>
              <a:t>• API-first tools: 40% YoY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114800"/>
            <a:ext cx="3657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374151"/>
                </a:solidFill>
              </a:rPr>
              <a:t>🎯 Target Customers</a:t>
            </a:r>
          </a:p>
          <a:p/>
          <a:p>
            <a:r>
              <a:rPr sz="1300">
                <a:solidFill>
                  <a:srgbClr val="374151"/>
                </a:solidFill>
              </a:rPr>
              <a:t>SaaS Companies | Marketing Agencies</a:t>
            </a:r>
          </a:p>
          <a:p>
            <a:r>
              <a:rPr sz="1300">
                <a:solidFill>
                  <a:srgbClr val="374151"/>
                </a:solidFill>
              </a:rPr>
              <a:t>E-commerce Platforms | Sales Automation 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A0A0A"/>
                </a:solidFill>
              </a:rPr>
              <a:t>Simple, Scalable, Profitable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74151"/>
                </a:solidFill>
              </a:rPr>
              <a:t>💰 Revenue Model</a:t>
            </a:r>
          </a:p>
          <a:p>
            <a:r>
              <a:rPr sz="1400">
                <a:solidFill>
                  <a:srgbClr val="374151"/>
                </a:solidFill>
              </a:rPr>
              <a:t>Credit-based SaaS</a:t>
            </a:r>
          </a:p>
          <a:p/>
          <a:p>
            <a:r>
              <a:rPr sz="1400">
                <a:solidFill>
                  <a:srgbClr val="374151"/>
                </a:solidFill>
              </a:rPr>
              <a:t>• 1 credit = 1 email verification</a:t>
            </a:r>
          </a:p>
          <a:p>
            <a:r>
              <a:rPr sz="1400">
                <a:solidFill>
                  <a:srgbClr val="374151"/>
                </a:solidFill>
              </a:rPr>
              <a:t>• Credits rollover (6-24 months)</a:t>
            </a:r>
          </a:p>
          <a:p>
            <a:r>
              <a:rPr sz="1400">
                <a:solidFill>
                  <a:srgbClr val="374151"/>
                </a:solidFill>
              </a:rPr>
              <a:t>• No subscriptions - pay as you grow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931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74151"/>
                </a:solidFill>
              </a:rPr>
              <a:t>📦 Pricing Tiers</a:t>
            </a:r>
          </a:p>
          <a:p/>
          <a:p>
            <a:r>
              <a:rPr sz="1400">
                <a:solidFill>
                  <a:srgbClr val="374151"/>
                </a:solidFill>
              </a:rPr>
              <a:t>Starter: 1K credits - $8.40</a:t>
            </a:r>
          </a:p>
          <a:p>
            <a:r>
              <a:rPr sz="1400">
                <a:solidFill>
                  <a:srgbClr val="374151"/>
                </a:solidFill>
              </a:rPr>
              <a:t>Pro: 10K credits - $55</a:t>
            </a:r>
          </a:p>
          <a:p>
            <a:r>
              <a:rPr sz="1400">
                <a:solidFill>
                  <a:srgbClr val="374151"/>
                </a:solidFill>
              </a:rPr>
              <a:t>Business: 50K credits - $209</a:t>
            </a:r>
          </a:p>
          <a:p>
            <a:r>
              <a:rPr sz="1400">
                <a:solidFill>
                  <a:srgbClr val="374151"/>
                </a:solidFill>
              </a:rPr>
              <a:t>Enterprise: Custom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A0A0A"/>
                </a:solidFill>
              </a:rPr>
              <a:t>📊 Unit Economics</a:t>
            </a:r>
          </a:p>
          <a:p>
            <a:pPr algn="ctr"/>
          </a:p>
          <a:p>
            <a:pPr algn="ctr"/>
            <a:r>
              <a:rPr sz="1600" b="1">
                <a:solidFill>
                  <a:srgbClr val="0A0A0A"/>
                </a:solidFill>
              </a:rPr>
              <a:t>$127 ARPU/month  |  $45 CAC  |  $1,524 LTV  |  34x LTV/CAC  |  87% Gross Margin  |  &lt;1 mo Payback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0A0A0A"/>
                </a:solidFill>
              </a:rPr>
              <a:t>Strong Growth, Proven Product-Market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0A0A0A"/>
                </a:solidFill>
              </a:rPr>
              <a:t>📈 MRR Growth (Last 6 Months)</a:t>
            </a:r>
          </a:p>
          <a:p>
            <a:pPr algn="ctr"/>
          </a:p>
          <a:p>
            <a:pPr algn="ctr"/>
            <a:r>
              <a:rPr sz="1600">
                <a:solidFill>
                  <a:srgbClr val="0A0A0A"/>
                </a:solidFill>
              </a:rPr>
              <a:t>$0 → $2K → $5K → $8K → $12K → $15K</a:t>
            </a:r>
          </a:p>
          <a:p>
            <a:pPr algn="ctr"/>
          </a:p>
          <a:p>
            <a:pPr algn="ctr"/>
            <a:r>
              <a:rPr sz="1600">
                <a:solidFill>
                  <a:srgbClr val="0A0A0A"/>
                </a:solidFill>
              </a:rPr>
              <a:t>40% MoM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9319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7FD957"/>
                </a:solidFill>
              </a:rPr>
              <a:t>👥 Customer Metrics</a:t>
            </a:r>
          </a:p>
          <a:p>
            <a:pPr algn="ctr"/>
          </a:p>
          <a:p>
            <a:pPr algn="ctr"/>
            <a:r>
              <a:rPr sz="1600" b="1">
                <a:solidFill>
                  <a:srgbClr val="7FD957"/>
                </a:solidFill>
              </a:rPr>
              <a:t>250+ Active Customers</a:t>
            </a:r>
          </a:p>
          <a:p>
            <a:pPr algn="ctr"/>
            <a:r>
              <a:rPr sz="1600" b="1">
                <a:solidFill>
                  <a:srgbClr val="7FD957"/>
                </a:solidFill>
              </a:rPr>
              <a:t>1.2M Emails Verified</a:t>
            </a:r>
          </a:p>
          <a:p>
            <a:pPr algn="ctr"/>
            <a:r>
              <a:rPr sz="1600" b="1">
                <a:solidFill>
                  <a:srgbClr val="7FD957"/>
                </a:solidFill>
              </a:rPr>
              <a:t>98.3% Accuracy Rate</a:t>
            </a:r>
          </a:p>
          <a:p>
            <a:pPr algn="ctr"/>
            <a:r>
              <a:rPr sz="1600" b="1">
                <a:solidFill>
                  <a:srgbClr val="7FD957"/>
                </a:solidFill>
              </a:rPr>
              <a:t>4.2% Monthly Churn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0A0A0A"/>
                </a:solidFill>
              </a:rPr>
              <a:t>✅ Product-market fit validated  |  ✅ 50+ organic signups/week  |  ✅ 4.8/5 rating  |  ✅ 60% upgrade within 30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374151"/>
                </a:solidFill>
              </a:rPr>
              <a:t>"Reduced our bounce rate from 8% to 2% in the first month"</a:t>
            </a:r>
          </a:p>
          <a:p>
            <a:pPr algn="ctr"/>
            <a:r>
              <a:rPr sz="1400" i="1">
                <a:solidFill>
                  <a:srgbClr val="374151"/>
                </a:solidFill>
              </a:rPr>
              <a:t>— Austyn CEO Voxanne.ai, 50K+ contacts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A0A0A"/>
                </a:solidFill>
              </a:rPr>
              <a:t>We're The Only AI-Powered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A0A0A"/>
                </a:solidFill>
                <a:latin typeface="Courier New"/>
              </a:rPr>
              <a:t>Feature                    ZB AI    ZeroBounce    NeverBounce    Hunter.io</a:t>
            </a:r>
          </a:p>
          <a:p>
            <a:r>
              <a:rPr sz="1200">
                <a:solidFill>
                  <a:srgbClr val="0A0A0A"/>
                </a:solidFill>
                <a:latin typeface="Courier New"/>
              </a:rPr>
              <a:t>AI-Powered                  ✅         ❌              ❌              ❌</a:t>
            </a:r>
          </a:p>
          <a:p>
            <a:r>
              <a:rPr sz="1200">
                <a:solidFill>
                  <a:srgbClr val="0A0A0A"/>
                </a:solidFill>
                <a:latin typeface="Courier New"/>
              </a:rPr>
              <a:t>Confidence Scoring          ✅         ❌              ❌              ❌</a:t>
            </a:r>
          </a:p>
          <a:p>
            <a:r>
              <a:rPr sz="1200">
                <a:solidFill>
                  <a:srgbClr val="0A0A0A"/>
                </a:solidFill>
                <a:latin typeface="Courier New"/>
              </a:rPr>
              <a:t>Pattern Recognition         ✅         ❌              ❌              ❌</a:t>
            </a:r>
          </a:p>
          <a:p>
            <a:r>
              <a:rPr sz="1200">
                <a:solidFill>
                  <a:srgbClr val="0A0A0A"/>
                </a:solidFill>
                <a:latin typeface="Courier New"/>
              </a:rPr>
              <a:t>Domain Intelligence         ✅         ❌              ❌              ❌</a:t>
            </a:r>
          </a:p>
          <a:p>
            <a:r>
              <a:rPr sz="1200">
                <a:solidFill>
                  <a:srgbClr val="0A0A0A"/>
                </a:solidFill>
                <a:latin typeface="Courier New"/>
              </a:rPr>
              <a:t>Accuracy                   98%+       92%             94%             93%</a:t>
            </a:r>
          </a:p>
          <a:p>
            <a:r>
              <a:rPr sz="1200">
                <a:solidFill>
                  <a:srgbClr val="0A0A0A"/>
                </a:solidFill>
                <a:latin typeface="Courier New"/>
              </a:rPr>
              <a:t>Price (per 1K)            $8.40      $16             $12             $10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374151"/>
                </a:solidFill>
              </a:rPr>
              <a:t>🎯 Our Unfair Advantages</a:t>
            </a:r>
          </a:p>
          <a:p/>
          <a:p>
            <a:r>
              <a:rPr sz="1300">
                <a:solidFill>
                  <a:srgbClr val="374151"/>
                </a:solidFill>
              </a:rPr>
              <a:t>1. AI-First Architecture - Proprietary ML models with continuous learning</a:t>
            </a:r>
          </a:p>
          <a:p>
            <a:r>
              <a:rPr sz="1300">
                <a:solidFill>
                  <a:srgbClr val="374151"/>
                </a:solidFill>
              </a:rPr>
              <a:t>2. Confidence Scoring IP - Patent-pending algorithm for 0-100 risk quantification</a:t>
            </a:r>
          </a:p>
          <a:p>
            <a:r>
              <a:rPr sz="1300">
                <a:solidFill>
                  <a:srgbClr val="374151"/>
                </a:solidFill>
              </a:rPr>
              <a:t>3. Network Effects - More data = better accuracy. Moat widens over time</a:t>
            </a:r>
          </a:p>
          <a:p>
            <a:r>
              <a:rPr sz="1300">
                <a:solidFill>
                  <a:srgbClr val="374151"/>
                </a:solidFill>
              </a:rPr>
              <a:t>4. Better Economics - 40% cheaper than ZeroBounce with higher accuracy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A0A0A"/>
                </a:solidFill>
              </a:rPr>
              <a:t>The Right Team to Win This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A0A0A"/>
                </a:solidFill>
              </a:rPr>
              <a:t>Temitayo Boboye</a:t>
            </a:r>
          </a:p>
          <a:p>
            <a:r>
              <a:rPr sz="1800" b="1">
                <a:solidFill>
                  <a:srgbClr val="0A0A0A"/>
                </a:solidFill>
              </a:rPr>
              <a:t>CEO &amp; Founder</a:t>
            </a:r>
          </a:p>
          <a:p/>
          <a:p>
            <a:r>
              <a:rPr sz="1300">
                <a:solidFill>
                  <a:srgbClr val="0A0A0A"/>
                </a:solidFill>
              </a:rPr>
              <a:t>✓ 10+ years in email marketing</a:t>
            </a:r>
          </a:p>
          <a:p>
            <a:r>
              <a:rPr sz="1300">
                <a:solidFill>
                  <a:srgbClr val="0A0A0A"/>
                </a:solidFill>
              </a:rPr>
              <a:t>✓ Built previous company (ConvertNG) to $100K ARR</a:t>
            </a:r>
          </a:p>
          <a:p>
            <a:r>
              <a:rPr sz="1300">
                <a:solidFill>
                  <a:srgbClr val="0A0A0A"/>
                </a:solidFill>
              </a:rPr>
              <a:t>✓ ML/AI background (University of Wolverhampton, CS)</a:t>
            </a:r>
          </a:p>
          <a:p>
            <a:r>
              <a:rPr sz="1300">
                <a:solidFill>
                  <a:srgbClr val="0A0A0A"/>
                </a:solidFill>
              </a:rPr>
              <a:t>✓ Domain expert in deliverability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64592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A0A0A"/>
                </a:solidFill>
              </a:rPr>
              <a:t>Claude</a:t>
            </a:r>
          </a:p>
          <a:p>
            <a:r>
              <a:rPr sz="1800" b="1">
                <a:solidFill>
                  <a:srgbClr val="0A0A0A"/>
                </a:solidFill>
              </a:rPr>
              <a:t>CTO &amp; Co-Founder</a:t>
            </a:r>
          </a:p>
          <a:p/>
          <a:p>
            <a:r>
              <a:rPr sz="1300">
                <a:solidFill>
                  <a:srgbClr val="0A0A0A"/>
                </a:solidFill>
              </a:rPr>
              <a:t>✓ AI Research</a:t>
            </a:r>
          </a:p>
          <a:p>
            <a:r>
              <a:rPr sz="1300">
                <a:solidFill>
                  <a:srgbClr val="0A0A0A"/>
                </a:solidFill>
              </a:rPr>
              <a:t>✓ Machine Learning</a:t>
            </a:r>
          </a:p>
          <a:p>
            <a:r>
              <a:rPr sz="1300">
                <a:solidFill>
                  <a:srgbClr val="0A0A0A"/>
                </a:solidFill>
              </a:rPr>
              <a:t>✓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0A0A0A"/>
                </a:solidFill>
              </a:rPr>
              <a:t>💡 Why We'll Win</a:t>
            </a:r>
          </a:p>
          <a:p>
            <a:pPr algn="ctr"/>
          </a:p>
          <a:p>
            <a:pPr algn="ctr"/>
            <a:r>
              <a:rPr sz="1400">
                <a:solidFill>
                  <a:srgbClr val="0A0A0A"/>
                </a:solidFill>
              </a:rPr>
              <a:t>Deep domain expertise  |  Technical moat (AI/ML)  |  Proven track record  |  Complementary skill sets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A0A0A"/>
                </a:solidFill>
              </a:rPr>
              <a:t>Path to $10M ARR in 3 Years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A0A0A"/>
                </a:solidFill>
                <a:latin typeface="Courier New"/>
              </a:rPr>
              <a:t>📊 3-Year Forecast</a:t>
            </a:r>
          </a:p>
          <a:p/>
          <a:p>
            <a:r>
              <a:rPr sz="1400">
                <a:solidFill>
                  <a:srgbClr val="0A0A0A"/>
                </a:solidFill>
                <a:latin typeface="Courier New"/>
              </a:rPr>
              <a:t>Year    MRR      ARR        Customers</a:t>
            </a:r>
          </a:p>
          <a:p>
            <a:r>
              <a:rPr sz="1400">
                <a:solidFill>
                  <a:srgbClr val="0A0A0A"/>
                </a:solidFill>
                <a:latin typeface="Courier New"/>
              </a:rPr>
              <a:t>2026    $50K     $600K      1,200</a:t>
            </a:r>
          </a:p>
          <a:p>
            <a:r>
              <a:rPr sz="1400">
                <a:solidFill>
                  <a:srgbClr val="0A0A0A"/>
                </a:solidFill>
                <a:latin typeface="Courier New"/>
              </a:rPr>
              <a:t>2027    $250K    $3M        5,000</a:t>
            </a:r>
          </a:p>
          <a:p>
            <a:r>
              <a:rPr sz="1400">
                <a:solidFill>
                  <a:srgbClr val="0A0A0A"/>
                </a:solidFill>
                <a:latin typeface="Courier New"/>
              </a:rPr>
              <a:t>2028    $833K    $10M       15,000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9319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A0A0A"/>
                </a:solidFill>
              </a:rPr>
              <a:t>💰 The Ask</a:t>
            </a:r>
          </a:p>
          <a:p/>
          <a:p>
            <a:r>
              <a:rPr sz="1400">
                <a:solidFill>
                  <a:srgbClr val="0A0A0A"/>
                </a:solidFill>
              </a:rPr>
              <a:t>Raising: $1.5M Seed Round</a:t>
            </a:r>
          </a:p>
          <a:p/>
          <a:p>
            <a:r>
              <a:rPr sz="1400">
                <a:solidFill>
                  <a:srgbClr val="0A0A0A"/>
                </a:solidFill>
              </a:rPr>
              <a:t>Use of Funds:</a:t>
            </a:r>
          </a:p>
          <a:p>
            <a:r>
              <a:rPr sz="1400">
                <a:solidFill>
                  <a:srgbClr val="0A0A0A"/>
                </a:solidFill>
              </a:rPr>
              <a:t>50% Engineering</a:t>
            </a:r>
          </a:p>
          <a:p>
            <a:r>
              <a:rPr sz="1400">
                <a:solidFill>
                  <a:srgbClr val="0A0A0A"/>
                </a:solidFill>
              </a:rPr>
              <a:t>30% Marketing</a:t>
            </a:r>
          </a:p>
          <a:p>
            <a:r>
              <a:rPr sz="1400">
                <a:solidFill>
                  <a:srgbClr val="0A0A0A"/>
                </a:solidFill>
              </a:rPr>
              <a:t>15% Operations</a:t>
            </a:r>
          </a:p>
          <a:p>
            <a:r>
              <a:rPr sz="1400">
                <a:solidFill>
                  <a:srgbClr val="0A0A0A"/>
                </a:solidFill>
              </a:rPr>
              <a:t>5%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0A0A0A"/>
                </a:solidFill>
              </a:rPr>
              <a:t>🎯 18-Month Milestones</a:t>
            </a:r>
          </a:p>
          <a:p>
            <a:pPr algn="ctr"/>
          </a:p>
          <a:p>
            <a:pPr algn="ctr"/>
            <a:r>
              <a:rPr sz="1300">
                <a:solidFill>
                  <a:srgbClr val="0A0A0A"/>
                </a:solidFill>
              </a:rPr>
              <a:t>✅ Reach $100K MRR  |  ✅ 2,500+ customers  |  ✅ Launch enterprise tier</a:t>
            </a:r>
          </a:p>
          <a:p>
            <a:pPr algn="ctr"/>
            <a:r>
              <a:rPr sz="1300">
                <a:solidFill>
                  <a:srgbClr val="0A0A0A"/>
                </a:solidFill>
              </a:rPr>
              <a:t>✅ 10M+ emails verified  |  ✅ Achieve profitability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6928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4B5563"/>
                </a:solidFill>
              </a:rPr>
              <a:t>Exit Potential: Strategic acquirers include Mailchimp, HubSpot, Salesforce, Twilio</a:t>
            </a:r>
          </a:p>
          <a:p>
            <a:pPr algn="ctr"/>
            <a:r>
              <a:rPr sz="1200">
                <a:solidFill>
                  <a:srgbClr val="4B5563"/>
                </a:solidFill>
              </a:rPr>
              <a:t>Comparable exits: $50-200M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0A0A0A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374151"/>
                </a:solidFill>
              </a:rPr>
              <a:t>Email: hello@zerobounceai.com</a:t>
            </a:r>
          </a:p>
          <a:p>
            <a:pPr algn="ctr"/>
            <a:r>
              <a:rPr sz="2000">
                <a:solidFill>
                  <a:srgbClr val="374151"/>
                </a:solidFill>
              </a:rPr>
              <a:t>Website: zerobounceai.com</a:t>
            </a:r>
          </a:p>
          <a:p>
            <a:pPr algn="ctr"/>
            <a:r>
              <a:rPr sz="2000">
                <a:solidFill>
                  <a:srgbClr val="374151"/>
                </a:solidFill>
              </a:rPr>
              <a:t>Demo: zerobounceai.com/login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7FD957"/>
                </a:solidFill>
              </a:rPr>
              <a:t>Let's build the future of email verification together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